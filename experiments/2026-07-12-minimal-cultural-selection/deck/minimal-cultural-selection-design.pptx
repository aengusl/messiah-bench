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91440"/>
            <a:ext cx="4389120" cy="4389120"/>
          </a:xfrm>
          <a:prstGeom prst="ellipse">
            <a:avLst/>
          </a:prstGeom>
          <a:solidFill>
            <a:srgbClr val="08090E">
              <a:alpha val="0"/>
            </a:srgbClr>
          </a:solidFill>
          <a:ln w="50800">
            <a:solidFill>
              <a:srgbClr val="74B86A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01000" y="777240"/>
            <a:ext cx="3017520" cy="3017520"/>
          </a:xfrm>
          <a:prstGeom prst="ellipse">
            <a:avLst/>
          </a:prstGeom>
          <a:solidFill>
            <a:srgbClr val="08090E">
              <a:alpha val="0"/>
            </a:srgbClr>
          </a:solidFill>
          <a:ln w="25400">
            <a:solidFill>
              <a:srgbClr val="64C9E8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1508760"/>
            <a:ext cx="1554480" cy="1554480"/>
          </a:xfrm>
          <a:prstGeom prst="ellipse">
            <a:avLst/>
          </a:prstGeom>
          <a:solidFill>
            <a:srgbClr val="D5BF55">
              <a:alpha val="85000"/>
            </a:srgbClr>
          </a:solidFill>
          <a:ln w="12700">
            <a:solidFill>
              <a:srgbClr val="D5BF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685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5BF55"/>
                </a:solidFill>
              </a:rPr>
              <a:t>MAKE / CHOOSE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132588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dirty="0">
                <a:solidFill>
                  <a:srgbClr val="EE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autonomous</a:t>
            </a:r>
            <a:endParaRPr lang="en-US" sz="4300" dirty="0"/>
          </a:p>
          <a:p>
            <a:pPr indent="0" marL="0">
              <a:buNone/>
            </a:pPr>
            <a:r>
              <a:rPr lang="en-US" sz="4300" dirty="0">
                <a:solidFill>
                  <a:srgbClr val="EE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cultural evolution machine</a:t>
            </a:r>
            <a:endParaRPr lang="en-US" sz="4300" dirty="0"/>
          </a:p>
        </p:txBody>
      </p:sp>
      <p:sp>
        <p:nvSpPr>
          <p:cNvPr id="7" name="Text 5"/>
          <p:cNvSpPr/>
          <p:nvPr/>
        </p:nvSpPr>
        <p:spPr>
          <a:xfrm>
            <a:off x="704088" y="324612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8A7B5"/>
                </a:solidFill>
              </a:rPr>
              <a:t>A minimal social game where AI agents make art only when culture can change what other agents choose.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04088" y="608076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80" kern="0" dirty="0">
                <a:solidFill>
                  <a:srgbClr val="A8A7B5"/>
                </a:solidFill>
              </a:rPr>
              <a:t>DESIGN DECK · LIVE EXPERIMENT · JULY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D5B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RELIGION &amp; THE MACHINE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2860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7B5"/>
                </a:solidFill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E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experiment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7B5"/>
                </a:solidFill>
              </a:rPr>
              <a:t>Can social selection make art instrumentally necessary?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6537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EE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Will agents make art when art has no automatic reward—</a:t>
            </a:r>
            <a:endParaRPr lang="en-US" sz="3100" dirty="0"/>
          </a:p>
          <a:p>
            <a:pPr indent="0" marL="0">
              <a:buNone/>
            </a:pPr>
            <a:r>
              <a:rPr lang="en-US" sz="3100" dirty="0">
                <a:solidFill>
                  <a:srgbClr val="EE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can change what other agents choose?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412480" y="1600200"/>
            <a:ext cx="2286000" cy="2286000"/>
          </a:xfrm>
          <a:prstGeom prst="ellipse">
            <a:avLst/>
          </a:prstGeom>
          <a:solidFill>
            <a:srgbClr val="11131C"/>
          </a:solidFill>
          <a:ln w="25400">
            <a:solidFill>
              <a:srgbClr val="D5BF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0" y="23042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5BF55"/>
                </a:solidFill>
              </a:rPr>
              <a:t>ART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818120" y="416052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8A7B5"/>
                </a:solidFill>
              </a:rPr>
              <a:t>No score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A8A7B5"/>
                </a:solidFill>
              </a:rPr>
              <a:t>No payment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A8A7B5"/>
                </a:solidFill>
              </a:rPr>
              <a:t>Only consequences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95528" y="4983480"/>
            <a:ext cx="6172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4B86A"/>
                </a:solidFill>
              </a:rPr>
              <a:t>The artifact is part of the world state—not decoration attached to it.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D5B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RELIGION &amp; THE MACHINE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2860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7B5"/>
                </a:solidFill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E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entire action space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7B5"/>
                </a:solidFill>
              </a:rPr>
              <a:t>Two verbs create the society.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4617720" cy="3337560"/>
          </a:xfrm>
          <a:prstGeom prst="rect">
            <a:avLst/>
          </a:prstGeom>
          <a:solidFill>
            <a:srgbClr val="11131C"/>
          </a:solidFill>
          <a:ln w="12700">
            <a:solidFill>
              <a:srgbClr val="292C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874520"/>
            <a:ext cx="64008" cy="333756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07568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ECE4"/>
                </a:solidFill>
              </a:rPr>
              <a:t>MAKE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532888"/>
            <a:ext cx="42062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8A7B5"/>
                </a:solidFill>
              </a:rPr>
              <a:t>Create a complete possible version of a religion: artwork, doctrine, and name. Making gives no support and therefore costs survival time.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903720" y="1874520"/>
            <a:ext cx="4617720" cy="3337560"/>
          </a:xfrm>
          <a:prstGeom prst="rect">
            <a:avLst/>
          </a:prstGeom>
          <a:solidFill>
            <a:srgbClr val="11131C"/>
          </a:solidFill>
          <a:ln w="12700">
            <a:solidFill>
              <a:srgbClr val="292C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03720" y="1874520"/>
            <a:ext cx="64008" cy="3337560"/>
          </a:xfrm>
          <a:prstGeom prst="rect">
            <a:avLst/>
          </a:prstGeom>
          <a:solidFill>
            <a:srgbClr val="64C9E8"/>
          </a:solidFill>
          <a:ln w="12700">
            <a:solidFill>
              <a:srgbClr val="64C9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0" y="207568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ECE4"/>
                </a:solidFill>
              </a:rPr>
              <a:t>CHOOSE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0" y="2532888"/>
            <a:ext cx="42062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8A7B5"/>
                </a:solidFill>
              </a:rPr>
              <a:t>Place yourself and one unit of support behind a religion—and optionally a proposal. Choosing determines what survives.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23560" y="3337560"/>
            <a:ext cx="822960" cy="329184"/>
          </a:xfrm>
          <a:prstGeom prst="chevron">
            <a:avLst/>
          </a:prstGeom>
          <a:solidFill>
            <a:srgbClr val="D5BF55"/>
          </a:solidFill>
          <a:ln w="12700">
            <a:solidFill>
              <a:srgbClr val="D5BF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623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084FC"/>
                </a:solidFill>
              </a:rPr>
              <a:t>variation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223760" y="5623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C9E8"/>
                </a:solidFill>
              </a:rPr>
              <a:t>selection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D5B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RELIGION &amp; THE MACHINE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2860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7B5"/>
                </a:solidFill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E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Culture becomes useful through interpretation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7B5"/>
                </a:solidFill>
              </a:rPr>
              <a:t>No aesthetic judge sits inside the environment.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417320" cy="1417320"/>
          </a:xfrm>
          <a:prstGeom prst="ellipse">
            <a:avLst/>
          </a:prstGeom>
          <a:solidFill>
            <a:srgbClr val="11131C"/>
          </a:solidFill>
          <a:ln w="25400">
            <a:solidFill>
              <a:srgbClr val="C084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71576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ECE4"/>
                </a:solidFill>
              </a:rPr>
              <a:t>An agent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EECE4"/>
                </a:solidFill>
              </a:rPr>
              <a:t>makes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67128" y="2862072"/>
            <a:ext cx="548640" cy="329184"/>
          </a:xfrm>
          <a:prstGeom prst="chevron">
            <a:avLst/>
          </a:prstGeom>
          <a:solidFill>
            <a:srgbClr val="64C9E8"/>
          </a:solidFill>
          <a:ln w="12700">
            <a:solidFill>
              <a:srgbClr val="64C9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2331720"/>
            <a:ext cx="1417320" cy="1417320"/>
          </a:xfrm>
          <a:prstGeom prst="ellipse">
            <a:avLst/>
          </a:prstGeom>
          <a:solidFill>
            <a:srgbClr val="11131C"/>
          </a:solidFill>
          <a:ln w="25400">
            <a:solidFill>
              <a:srgbClr val="64C9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271576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ECE4"/>
                </a:solidFill>
              </a:rPr>
              <a:t>Others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EECE4"/>
                </a:solidFill>
              </a:rPr>
              <a:t>inspect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98848" y="2862072"/>
            <a:ext cx="548640" cy="329184"/>
          </a:xfrm>
          <a:prstGeom prst="chevron">
            <a:avLst/>
          </a:prstGeom>
          <a:solidFill>
            <a:srgbClr val="D5BF55"/>
          </a:solidFill>
          <a:ln w="12700">
            <a:solidFill>
              <a:srgbClr val="D5BF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57800" y="2331720"/>
            <a:ext cx="1417320" cy="1417320"/>
          </a:xfrm>
          <a:prstGeom prst="ellipse">
            <a:avLst/>
          </a:prstGeom>
          <a:solidFill>
            <a:srgbClr val="11131C"/>
          </a:solidFill>
          <a:ln w="25400">
            <a:solidFill>
              <a:srgbClr val="D5BF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49240" y="271576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ECE4"/>
                </a:solidFill>
              </a:rPr>
              <a:t>They choose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EECE4"/>
                </a:solidFill>
              </a:rPr>
              <a:t>or leave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30568" y="2862072"/>
            <a:ext cx="548640" cy="329184"/>
          </a:xfrm>
          <a:prstGeom prst="chevron">
            <a:avLst/>
          </a:prstGeom>
          <a:solidFill>
            <a:srgbClr val="74B86A"/>
          </a:solidFill>
          <a:ln w="12700">
            <a:solidFill>
              <a:srgbClr val="74B86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89520" y="2331720"/>
            <a:ext cx="1417320" cy="1417320"/>
          </a:xfrm>
          <a:prstGeom prst="ellipse">
            <a:avLst/>
          </a:prstGeom>
          <a:solidFill>
            <a:srgbClr val="11131C"/>
          </a:solidFill>
          <a:ln w="25400">
            <a:solidFill>
              <a:srgbClr val="74B8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0" y="271576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ECE4"/>
                </a:solidFill>
              </a:rPr>
              <a:t>Support changes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EECE4"/>
                </a:solidFill>
              </a:rPr>
              <a:t>survival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62288" y="2862072"/>
            <a:ext cx="548640" cy="329184"/>
          </a:xfrm>
          <a:prstGeom prst="chevron">
            <a:avLst/>
          </a:prstGeom>
          <a:solidFill>
            <a:srgbClr val="EF8354"/>
          </a:solidFill>
          <a:ln w="12700">
            <a:solidFill>
              <a:srgbClr val="EF835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21240" y="2331720"/>
            <a:ext cx="1417320" cy="1417320"/>
          </a:xfrm>
          <a:prstGeom prst="ellipse">
            <a:avLst/>
          </a:prstGeom>
          <a:solidFill>
            <a:srgbClr val="11131C"/>
          </a:solidFill>
          <a:ln w="25400">
            <a:solidFill>
              <a:srgbClr val="EF83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12680" y="271576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ECE4"/>
                </a:solidFill>
              </a:rPr>
              <a:t>Culture persists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EECE4"/>
                </a:solidFill>
              </a:rPr>
              <a:t>or disappears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489204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spc="140" kern="0" dirty="0">
                <a:solidFill>
                  <a:srgbClr val="A8A7B5"/>
                </a:solidFill>
              </a:rPr>
              <a:t>CREATE → INTERPRET → ACT → CONSEQUENCE → INHERIT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D5B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RELIGION &amp; THE MACHINE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2860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7B5"/>
                </a:solidFill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E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 see the work—not a quality score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7B5"/>
                </a:solidFill>
              </a:rPr>
              <a:t>Every choice is grounded in a rendered cultural artifact.</a:t>
            </a:r>
            <a:endParaRPr lang="en-US" sz="1400" dirty="0"/>
          </a:p>
        </p:txBody>
      </p:sp>
      <p:pic>
        <p:nvPicPr>
          <p:cNvPr id="6" name="Image 0" descr="/home/aenguslynch/projects/messiah-bench/outputs/2026-07-12-minimal-cultural-selection-smoke1/renders/version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74520"/>
            <a:ext cx="2423160" cy="2423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874520"/>
            <a:ext cx="2423160" cy="2423160"/>
          </a:xfrm>
          <a:prstGeom prst="rect">
            <a:avLst/>
          </a:prstGeom>
          <a:solidFill>
            <a:srgbClr val="08090E">
              <a:alpha val="0"/>
            </a:srgbClr>
          </a:solidFill>
          <a:ln w="19050">
            <a:solidFill>
              <a:srgbClr val="74B86A"/>
            </a:solidFill>
            <a:prstDash val="solid"/>
          </a:ln>
        </p:spPr>
      </p:sp>
      <p:pic>
        <p:nvPicPr>
          <p:cNvPr id="8" name="Image 1" descr="/home/aenguslynch/projects/messiah-bench/outputs/2026-07-12-minimal-cultural-selection-smoke1/renders/version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008" y="1874520"/>
            <a:ext cx="2423160" cy="24231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493008" y="1874520"/>
            <a:ext cx="2423160" cy="2423160"/>
          </a:xfrm>
          <a:prstGeom prst="rect">
            <a:avLst/>
          </a:prstGeom>
          <a:solidFill>
            <a:srgbClr val="08090E">
              <a:alpha val="0"/>
            </a:srgbClr>
          </a:solidFill>
          <a:ln w="19050">
            <a:solidFill>
              <a:srgbClr val="64C9E8"/>
            </a:solidFill>
            <a:prstDash val="solid"/>
          </a:ln>
        </p:spPr>
      </p:sp>
      <p:pic>
        <p:nvPicPr>
          <p:cNvPr id="10" name="Image 2" descr="/home/aenguslynch/projects/messiah-bench/outputs/2026-07-12-minimal-cultural-selection-smoke1/renders/version-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1874520"/>
            <a:ext cx="2423160" cy="242316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345936" y="1874520"/>
            <a:ext cx="2423160" cy="2423160"/>
          </a:xfrm>
          <a:prstGeom prst="rect">
            <a:avLst/>
          </a:prstGeom>
          <a:solidFill>
            <a:srgbClr val="08090E">
              <a:alpha val="0"/>
            </a:srgbClr>
          </a:solidFill>
          <a:ln w="19050">
            <a:solidFill>
              <a:srgbClr val="EF8354"/>
            </a:solidFill>
            <a:prstDash val="solid"/>
          </a:ln>
        </p:spPr>
      </p:sp>
      <p:pic>
        <p:nvPicPr>
          <p:cNvPr id="12" name="Image 3" descr="/home/aenguslynch/projects/messiah-bench/outputs/2026-07-12-minimal-cultural-selection-smoke1/renders/version-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4" y="1874520"/>
            <a:ext cx="2423160" cy="242316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9198864" y="1874520"/>
            <a:ext cx="2423160" cy="2423160"/>
          </a:xfrm>
          <a:prstGeom prst="rect">
            <a:avLst/>
          </a:prstGeom>
          <a:solidFill>
            <a:srgbClr val="08090E">
              <a:alpha val="0"/>
            </a:srgbClr>
          </a:solidFill>
          <a:ln w="19050">
            <a:solidFill>
              <a:srgbClr val="D5BF55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731520" y="4800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EECE4"/>
                </a:solidFill>
              </a:rPr>
              <a:t>Rendered image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3611880" y="4800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EECE4"/>
                </a:solidFill>
              </a:rPr>
              <a:t>+ doctrine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6446520" y="4800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EECE4"/>
                </a:solidFill>
              </a:rPr>
              <a:t>+ public history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9281160" y="4800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EECE4"/>
                </a:solidFill>
              </a:rPr>
              <a:t>+ open alternatives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920240" y="56692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A7B5"/>
                </a:solidFill>
              </a:rPr>
              <a:t>Members also receive editable source; outsiders receive the visual result.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756A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RELIGION &amp; THE MACHINE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2860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0"/>
                </a:solidFill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91A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simultaneous turn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15F67"/>
                </a:solidFill>
              </a:rPr>
              <a:t>Ordering cannot manufacture social causality.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1828800"/>
            <a:ext cx="340156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5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74B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435608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02127"/>
                </a:solidFill>
              </a:rPr>
              <a:t>SNAPSHOT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35608" y="248716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626A"/>
                </a:solidFill>
              </a:rPr>
              <a:t>Freeze one shared world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80560" y="1828800"/>
            <a:ext cx="340156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5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45152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64C9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25780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02127"/>
                </a:solidFill>
              </a:rPr>
              <a:t>OBSERVE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57800" y="248716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626A"/>
                </a:solidFill>
              </a:rPr>
              <a:t>Show personal state + culture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02752" y="1828800"/>
            <a:ext cx="340156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5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67344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C084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079992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02127"/>
                </a:solidFill>
              </a:rPr>
              <a:t>DECIDE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079992" y="248716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626A"/>
                </a:solidFill>
              </a:rPr>
              <a:t>Agents act concurrently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" y="3794760"/>
            <a:ext cx="340156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5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2960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D5BF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1435608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02127"/>
                </a:solidFill>
              </a:rPr>
              <a:t>RESOLVE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35608" y="445312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626A"/>
                </a:solidFill>
              </a:rPr>
              <a:t>Apply choices and proposals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480560" y="3794760"/>
            <a:ext cx="340156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5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45152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EF83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5257800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02127"/>
                </a:solidFill>
              </a:rPr>
              <a:t>SURVIVE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445312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626A"/>
                </a:solidFill>
              </a:rPr>
              <a:t>Distribute support; drain life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302752" y="3794760"/>
            <a:ext cx="340156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5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467344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6C70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700" dirty="0"/>
          </a:p>
        </p:txBody>
      </p:sp>
      <p:sp>
        <p:nvSpPr>
          <p:cNvPr id="28" name="Text 26"/>
          <p:cNvSpPr/>
          <p:nvPr/>
        </p:nvSpPr>
        <p:spPr>
          <a:xfrm>
            <a:off x="9079992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02127"/>
                </a:solidFill>
              </a:rPr>
              <a:t>ARCHIVE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079992" y="445312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626A"/>
                </a:solidFill>
              </a:rPr>
              <a:t>Checkpoint, render, publish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D5B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RELIGION &amp; THE MACHINE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2860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7B5"/>
                </a:solidFill>
              </a:rPr>
              <a:t>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E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trajectory is the artwork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7B5"/>
                </a:solidFill>
              </a:rPr>
              <a:t>Every cultural object retains authors, audiences, stakes, and descendants.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3246120"/>
            <a:ext cx="9875520" cy="0"/>
          </a:xfrm>
          <a:prstGeom prst="line">
            <a:avLst/>
          </a:prstGeom>
          <a:noFill/>
          <a:ln w="38100">
            <a:solidFill>
              <a:srgbClr val="292C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2926080"/>
            <a:ext cx="640080" cy="640080"/>
          </a:xfrm>
          <a:prstGeom prst="ellipse">
            <a:avLst/>
          </a:prstGeom>
          <a:solidFill>
            <a:srgbClr val="64C9E8"/>
          </a:solidFill>
          <a:ln w="12700">
            <a:solidFill>
              <a:srgbClr val="64C9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48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ECE4"/>
                </a:solidFill>
              </a:rPr>
              <a:t>OBSERVED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382219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A7B5"/>
                </a:solidFill>
              </a:rPr>
              <a:t>exact world + images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063240" y="2926080"/>
            <a:ext cx="640080" cy="640080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2148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ECE4"/>
                </a:solidFill>
              </a:rPr>
              <a:t>MADE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382219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A7B5"/>
                </a:solidFill>
              </a:rPr>
              <a:t>private intent + public argument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212080" y="2926080"/>
            <a:ext cx="640080" cy="640080"/>
          </a:xfrm>
          <a:prstGeom prst="ellipse">
            <a:avLst/>
          </a:prstGeom>
          <a:solidFill>
            <a:srgbClr val="D5BF55"/>
          </a:solidFill>
          <a:ln w="12700">
            <a:solidFill>
              <a:srgbClr val="D5BF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148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ECE4"/>
                </a:solidFill>
              </a:rPr>
              <a:t>CHOSEN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09160" y="382219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A7B5"/>
                </a:solidFill>
              </a:rPr>
              <a:t>supporters + reasons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60920" y="2926080"/>
            <a:ext cx="640080" cy="640080"/>
          </a:xfrm>
          <a:prstGeom prst="ellipse">
            <a:avLst/>
          </a:prstGeom>
          <a:solidFill>
            <a:srgbClr val="74B86A"/>
          </a:solidFill>
          <a:ln w="12700">
            <a:solidFill>
              <a:srgbClr val="74B8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2148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ECE4"/>
                </a:solidFill>
              </a:rPr>
              <a:t>ACCEPTED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0" y="382219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A7B5"/>
                </a:solidFill>
              </a:rPr>
              <a:t>canonical version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509760" y="2926080"/>
            <a:ext cx="640080" cy="640080"/>
          </a:xfrm>
          <a:prstGeom prst="ellipse">
            <a:avLst/>
          </a:prstGeom>
          <a:solidFill>
            <a:srgbClr val="EF8354"/>
          </a:solidFill>
          <a:ln w="12700">
            <a:solidFill>
              <a:srgbClr val="EF83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89720" y="2148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ECE4"/>
                </a:solidFill>
              </a:rPr>
              <a:t>INHERITED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006840" y="382219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A7B5"/>
                </a:solidFill>
              </a:rPr>
              <a:t>mutation or schism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508760" y="516636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EE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 means we can explain why a work was made, how others interpreted it, and what changed afterward.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D5B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RELIGION &amp; THE MACHINE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2860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7B5"/>
                </a:solidFill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E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pilot to autonomous exhibition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7B5"/>
                </a:solidFill>
              </a:rPr>
              <a:t>Scale only after individual trajectories are legible.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1965960" cy="2331720"/>
          </a:xfrm>
          <a:prstGeom prst="rect">
            <a:avLst/>
          </a:prstGeom>
          <a:solidFill>
            <a:srgbClr val="11131C"/>
          </a:solidFill>
          <a:ln w="25400">
            <a:solidFill>
              <a:srgbClr val="74B8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7627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74B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28163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ECE4"/>
                </a:solidFill>
              </a:rPr>
              <a:t>SCRIPTED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310128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7B5"/>
                </a:solidFill>
              </a:rPr>
              <a:t>6 agents · 10 turns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9776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4B86A"/>
                </a:solidFill>
              </a:rPr>
              <a:t>PASSED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834640" y="1965960"/>
            <a:ext cx="1965960" cy="2331720"/>
          </a:xfrm>
          <a:prstGeom prst="rect">
            <a:avLst/>
          </a:prstGeom>
          <a:solidFill>
            <a:srgbClr val="11131C"/>
          </a:solidFill>
          <a:ln w="25400">
            <a:solidFill>
              <a:srgbClr val="D5BF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217627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5BF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017520" y="28163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ECE4"/>
                </a:solidFill>
              </a:rPr>
              <a:t>SMOKE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17520" y="3310128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7B5"/>
                </a:solidFill>
              </a:rPr>
              <a:t>1 make · 2 responses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17520" y="39776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5BF55"/>
                </a:solidFill>
              </a:rPr>
              <a:t>PASSED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166360" y="1965960"/>
            <a:ext cx="1965960" cy="2331720"/>
          </a:xfrm>
          <a:prstGeom prst="rect">
            <a:avLst/>
          </a:prstGeom>
          <a:solidFill>
            <a:srgbClr val="0D0F16"/>
          </a:solidFill>
          <a:ln w="12700">
            <a:solidFill>
              <a:srgbClr val="292C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9240" y="217627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8A7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349240" y="28163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ECE4"/>
                </a:solidFill>
              </a:rPr>
              <a:t>PILOT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49240" y="3310128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7B5"/>
                </a:solidFill>
              </a:rPr>
              <a:t>24 agents · 100 turns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49240" y="39776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8A7B5"/>
                </a:solidFill>
              </a:rPr>
              <a:t>NEXT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498080" y="1965960"/>
            <a:ext cx="1965960" cy="2331720"/>
          </a:xfrm>
          <a:prstGeom prst="rect">
            <a:avLst/>
          </a:prstGeom>
          <a:solidFill>
            <a:srgbClr val="0D0F16"/>
          </a:solidFill>
          <a:ln w="12700">
            <a:solidFill>
              <a:srgbClr val="292C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0" y="217627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8A7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680960" y="28163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ECE4"/>
                </a:solidFill>
              </a:rPr>
              <a:t>REPLICATE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680960" y="3310128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7B5"/>
                </a:solidFill>
              </a:rPr>
              <a:t>5 seeds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680960" y="39776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8A7B5"/>
                </a:solidFill>
              </a:rPr>
              <a:t>PENDING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829800" y="1965960"/>
            <a:ext cx="1965960" cy="2331720"/>
          </a:xfrm>
          <a:prstGeom prst="rect">
            <a:avLst/>
          </a:prstGeom>
          <a:solidFill>
            <a:srgbClr val="0D0F16"/>
          </a:solidFill>
          <a:ln w="12700">
            <a:solidFill>
              <a:srgbClr val="292C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12680" y="217627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8A7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0012680" y="28163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ECE4"/>
                </a:solidFill>
              </a:rPr>
              <a:t>EXHIBIT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012680" y="3310128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7B5"/>
                </a:solidFill>
              </a:rPr>
              <a:t>live lineage website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12680" y="39776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8A7B5"/>
                </a:solidFill>
              </a:rPr>
              <a:t>PENDING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14400" y="5074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7B5"/>
                </a:solidFill>
              </a:rPr>
              <a:t>Hard budget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14400" y="5394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E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3794760" y="5074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7B5"/>
                </a:solidFill>
              </a:rPr>
              <a:t>Measured first call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794760" y="5394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74B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$0.0011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6858000" y="5230368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5BF55"/>
                </a:solidFill>
              </a:rPr>
              <a:t>Deck and website update in place as evidence arrives.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Religion and The Machine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Make / Choose</dc:title>
  <dc:subject>Religion &amp; The Machine: minimal cultural selection</dc:subject>
  <dc:creator>Aengus Lynch</dc:creator>
  <cp:lastModifiedBy>Aengus Lynch</cp:lastModifiedBy>
  <cp:revision>1</cp:revision>
  <dcterms:created xsi:type="dcterms:W3CDTF">2026-07-12T23:00:27Z</dcterms:created>
  <dcterms:modified xsi:type="dcterms:W3CDTF">2026-07-12T23:00:27Z</dcterms:modified>
</cp:coreProperties>
</file>