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0" y="91440"/>
            <a:ext cx="4389120" cy="4389120"/>
          </a:xfrm>
          <a:prstGeom prst="ellipse">
            <a:avLst/>
          </a:prstGeom>
          <a:solidFill>
            <a:srgbClr val="08090E">
              <a:alpha val="0"/>
            </a:srgbClr>
          </a:solidFill>
          <a:ln w="50800">
            <a:solidFill>
              <a:srgbClr val="74B86A">
                <a:alpha val="7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001000" y="777240"/>
            <a:ext cx="3017520" cy="3017520"/>
          </a:xfrm>
          <a:prstGeom prst="ellipse">
            <a:avLst/>
          </a:prstGeom>
          <a:solidFill>
            <a:srgbClr val="08090E">
              <a:alpha val="0"/>
            </a:srgbClr>
          </a:solidFill>
          <a:ln w="25400">
            <a:solidFill>
              <a:srgbClr val="64C9E8">
                <a:alpha val="8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32520" y="1508760"/>
            <a:ext cx="1554480" cy="1554480"/>
          </a:xfrm>
          <a:prstGeom prst="ellipse">
            <a:avLst/>
          </a:prstGeom>
          <a:solidFill>
            <a:srgbClr val="D5BF55">
              <a:alpha val="85000"/>
            </a:srgbClr>
          </a:solidFill>
          <a:ln w="12700">
            <a:solidFill>
              <a:srgbClr val="D5BF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685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5BF55"/>
                </a:solidFill>
              </a:rPr>
              <a:t>MAKE / CHOOSE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58368" y="132588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300" dirty="0">
                <a:solidFill>
                  <a:srgbClr val="EEEC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autonomous</a:t>
            </a:r>
            <a:endParaRPr lang="en-US" sz="4300" dirty="0"/>
          </a:p>
          <a:p>
            <a:pPr indent="0" marL="0">
              <a:buNone/>
            </a:pPr>
            <a:r>
              <a:rPr lang="en-US" sz="4300" dirty="0">
                <a:solidFill>
                  <a:srgbClr val="EEEC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cultural evolution machine</a:t>
            </a:r>
            <a:endParaRPr lang="en-US" sz="4300" dirty="0"/>
          </a:p>
        </p:txBody>
      </p:sp>
      <p:sp>
        <p:nvSpPr>
          <p:cNvPr id="7" name="Text 5"/>
          <p:cNvSpPr/>
          <p:nvPr/>
        </p:nvSpPr>
        <p:spPr>
          <a:xfrm>
            <a:off x="704088" y="3246120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A8A7B5"/>
                </a:solidFill>
              </a:rPr>
              <a:t>A minimal social game where AI agents make art only when culture can change what other agents choose.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04088" y="608076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80" kern="0" dirty="0">
                <a:solidFill>
                  <a:srgbClr val="A8A7B5"/>
                </a:solidFill>
              </a:rPr>
              <a:t>DESIGN DECK · LIVE EXPERIMENT · JULY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20" kern="0" dirty="0">
                <a:solidFill>
                  <a:srgbClr val="D5BF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RELIGION &amp; THE MACHINE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55680" y="22860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7B5"/>
                </a:solidFill>
              </a:rPr>
              <a:t>02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30352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EEC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experiment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7B5"/>
                </a:solidFill>
              </a:rPr>
              <a:t>Can social selection make art instrumentally necessary?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2011680"/>
            <a:ext cx="6537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dirty="0">
                <a:solidFill>
                  <a:srgbClr val="EEEC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Will agents make art when art has no automatic reward—</a:t>
            </a:r>
            <a:endParaRPr lang="en-US" sz="3100" dirty="0"/>
          </a:p>
          <a:p>
            <a:pPr indent="0" marL="0">
              <a:buNone/>
            </a:pPr>
            <a:r>
              <a:rPr lang="en-US" sz="3100" dirty="0">
                <a:solidFill>
                  <a:srgbClr val="EEEC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but can change what other agents choose?</a:t>
            </a:r>
            <a:endParaRPr lang="en-US" sz="3100" dirty="0"/>
          </a:p>
        </p:txBody>
      </p:sp>
      <p:sp>
        <p:nvSpPr>
          <p:cNvPr id="7" name="Shape 5"/>
          <p:cNvSpPr/>
          <p:nvPr/>
        </p:nvSpPr>
        <p:spPr>
          <a:xfrm>
            <a:off x="8412480" y="1600200"/>
            <a:ext cx="2286000" cy="2286000"/>
          </a:xfrm>
          <a:prstGeom prst="ellipse">
            <a:avLst/>
          </a:prstGeom>
          <a:solidFill>
            <a:srgbClr val="11131C"/>
          </a:solidFill>
          <a:ln w="25400">
            <a:solidFill>
              <a:srgbClr val="D5BF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0" y="230428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5BF55"/>
                </a:solidFill>
              </a:rPr>
              <a:t>ART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818120" y="4160520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A8A7B5"/>
                </a:solidFill>
              </a:rPr>
              <a:t>No score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A8A7B5"/>
                </a:solidFill>
              </a:rPr>
              <a:t>No payment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A8A7B5"/>
                </a:solidFill>
              </a:rPr>
              <a:t>Only consequences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95528" y="4983480"/>
            <a:ext cx="6172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4B86A"/>
                </a:solidFill>
              </a:rPr>
              <a:t>The artifact is part of the world state—not decoration attached to it.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20" kern="0" dirty="0">
                <a:solidFill>
                  <a:srgbClr val="D5BF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RELIGION &amp; THE MACHINE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55680" y="22860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7B5"/>
                </a:solidFill>
              </a:rPr>
              <a:t>03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30352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EEC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entire action space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7B5"/>
                </a:solidFill>
              </a:rPr>
              <a:t>Two verbs create the society.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5800" y="1874520"/>
            <a:ext cx="4617720" cy="3337560"/>
          </a:xfrm>
          <a:prstGeom prst="rect">
            <a:avLst/>
          </a:prstGeom>
          <a:solidFill>
            <a:srgbClr val="11131C"/>
          </a:solidFill>
          <a:ln w="12700">
            <a:solidFill>
              <a:srgbClr val="292C3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874520"/>
            <a:ext cx="64008" cy="3337560"/>
          </a:xfrm>
          <a:prstGeom prst="rect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07568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ECE4"/>
                </a:solidFill>
              </a:rPr>
              <a:t>MAKE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2532888"/>
            <a:ext cx="42062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8A7B5"/>
                </a:solidFill>
              </a:rPr>
              <a:t>Create a complete possible version of a religion: artwork, doctrine, and name. Making gives no support and therefore costs survival time.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903720" y="1874520"/>
            <a:ext cx="4617720" cy="3337560"/>
          </a:xfrm>
          <a:prstGeom prst="rect">
            <a:avLst/>
          </a:prstGeom>
          <a:solidFill>
            <a:srgbClr val="11131C"/>
          </a:solidFill>
          <a:ln w="12700">
            <a:solidFill>
              <a:srgbClr val="292C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03720" y="1874520"/>
            <a:ext cx="64008" cy="3337560"/>
          </a:xfrm>
          <a:prstGeom prst="rect">
            <a:avLst/>
          </a:prstGeom>
          <a:solidFill>
            <a:srgbClr val="64C9E8"/>
          </a:solidFill>
          <a:ln w="12700">
            <a:solidFill>
              <a:srgbClr val="64C9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0" y="207568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ECE4"/>
                </a:solidFill>
              </a:rPr>
              <a:t>CHOOSE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132320" y="2532888"/>
            <a:ext cx="42062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8A7B5"/>
                </a:solidFill>
              </a:rPr>
              <a:t>Place yourself and one unit of support behind a religion—and optionally a proposal. Choosing determines what survives.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23560" y="3337560"/>
            <a:ext cx="822960" cy="329184"/>
          </a:xfrm>
          <a:prstGeom prst="chevron">
            <a:avLst/>
          </a:prstGeom>
          <a:solidFill>
            <a:srgbClr val="D5BF55"/>
          </a:solidFill>
          <a:ln w="12700">
            <a:solidFill>
              <a:srgbClr val="D5BF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5623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084FC"/>
                </a:solidFill>
              </a:rPr>
              <a:t>variation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223760" y="5623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C9E8"/>
                </a:solidFill>
              </a:rPr>
              <a:t>selection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20" kern="0" dirty="0">
                <a:solidFill>
                  <a:srgbClr val="D5BF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RELIGION &amp; THE MACHINE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55680" y="22860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7B5"/>
                </a:solidFill>
              </a:rPr>
              <a:t>04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30352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EEC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Culture becomes useful through interpretation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7B5"/>
                </a:solidFill>
              </a:rPr>
              <a:t>No aesthetic judge sits inside the environment.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94360" y="2331720"/>
            <a:ext cx="1417320" cy="1417320"/>
          </a:xfrm>
          <a:prstGeom prst="ellipse">
            <a:avLst/>
          </a:prstGeom>
          <a:solidFill>
            <a:srgbClr val="11131C"/>
          </a:solidFill>
          <a:ln w="25400">
            <a:solidFill>
              <a:srgbClr val="C084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2715768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EECE4"/>
                </a:solidFill>
              </a:rPr>
              <a:t>An agent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EECE4"/>
                </a:solidFill>
              </a:rPr>
              <a:t>makes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167128" y="2862072"/>
            <a:ext cx="548640" cy="329184"/>
          </a:xfrm>
          <a:prstGeom prst="chevron">
            <a:avLst/>
          </a:prstGeom>
          <a:solidFill>
            <a:srgbClr val="64C9E8"/>
          </a:solidFill>
          <a:ln w="12700">
            <a:solidFill>
              <a:srgbClr val="64C9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26080" y="2331720"/>
            <a:ext cx="1417320" cy="1417320"/>
          </a:xfrm>
          <a:prstGeom prst="ellipse">
            <a:avLst/>
          </a:prstGeom>
          <a:solidFill>
            <a:srgbClr val="11131C"/>
          </a:solidFill>
          <a:ln w="25400">
            <a:solidFill>
              <a:srgbClr val="64C9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17520" y="2715768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EECE4"/>
                </a:solidFill>
              </a:rPr>
              <a:t>Others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EECE4"/>
                </a:solidFill>
              </a:rPr>
              <a:t>inspect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98848" y="2862072"/>
            <a:ext cx="548640" cy="329184"/>
          </a:xfrm>
          <a:prstGeom prst="chevron">
            <a:avLst/>
          </a:prstGeom>
          <a:solidFill>
            <a:srgbClr val="D5BF55"/>
          </a:solidFill>
          <a:ln w="12700">
            <a:solidFill>
              <a:srgbClr val="D5BF5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57800" y="2331720"/>
            <a:ext cx="1417320" cy="1417320"/>
          </a:xfrm>
          <a:prstGeom prst="ellipse">
            <a:avLst/>
          </a:prstGeom>
          <a:solidFill>
            <a:srgbClr val="11131C"/>
          </a:solidFill>
          <a:ln w="25400">
            <a:solidFill>
              <a:srgbClr val="D5BF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49240" y="2715768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EECE4"/>
                </a:solidFill>
              </a:rPr>
              <a:t>They choose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EECE4"/>
                </a:solidFill>
              </a:rPr>
              <a:t>or leave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30568" y="2862072"/>
            <a:ext cx="548640" cy="329184"/>
          </a:xfrm>
          <a:prstGeom prst="chevron">
            <a:avLst/>
          </a:prstGeom>
          <a:solidFill>
            <a:srgbClr val="74B86A"/>
          </a:solidFill>
          <a:ln w="12700">
            <a:solidFill>
              <a:srgbClr val="74B86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589520" y="2331720"/>
            <a:ext cx="1417320" cy="1417320"/>
          </a:xfrm>
          <a:prstGeom prst="ellipse">
            <a:avLst/>
          </a:prstGeom>
          <a:solidFill>
            <a:srgbClr val="11131C"/>
          </a:solidFill>
          <a:ln w="25400">
            <a:solidFill>
              <a:srgbClr val="74B8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80960" y="2715768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EECE4"/>
                </a:solidFill>
              </a:rPr>
              <a:t>Support changes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EECE4"/>
                </a:solidFill>
              </a:rPr>
              <a:t>survival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162288" y="2862072"/>
            <a:ext cx="548640" cy="329184"/>
          </a:xfrm>
          <a:prstGeom prst="chevron">
            <a:avLst/>
          </a:prstGeom>
          <a:solidFill>
            <a:srgbClr val="EF8354"/>
          </a:solidFill>
          <a:ln w="12700">
            <a:solidFill>
              <a:srgbClr val="EF835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921240" y="2331720"/>
            <a:ext cx="1417320" cy="1417320"/>
          </a:xfrm>
          <a:prstGeom prst="ellipse">
            <a:avLst/>
          </a:prstGeom>
          <a:solidFill>
            <a:srgbClr val="11131C"/>
          </a:solidFill>
          <a:ln w="25400">
            <a:solidFill>
              <a:srgbClr val="EF83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12680" y="2715768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EECE4"/>
                </a:solidFill>
              </a:rPr>
              <a:t>Culture persists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EECE4"/>
                </a:solidFill>
              </a:rPr>
              <a:t>or disappears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4892040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spc="140" kern="0" dirty="0">
                <a:solidFill>
                  <a:srgbClr val="A8A7B5"/>
                </a:solidFill>
              </a:rPr>
              <a:t>CREATE → INTERPRET → ACT → CONSEQUENCE → INHERIT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20" kern="0" dirty="0">
                <a:solidFill>
                  <a:srgbClr val="D5BF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RELIGION &amp; THE MACHINE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55680" y="22860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7B5"/>
                </a:solidFill>
              </a:rPr>
              <a:t>05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30352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EEC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Agents see the work—not a quality score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7B5"/>
                </a:solidFill>
              </a:rPr>
              <a:t>Every choice is grounded in a rendered cultural artifact.</a:t>
            </a:r>
            <a:endParaRPr lang="en-US" sz="1400" dirty="0"/>
          </a:p>
        </p:txBody>
      </p:sp>
      <p:pic>
        <p:nvPicPr>
          <p:cNvPr id="6" name="Image 0" descr="/home/aenguslynch/projects/messiah-bench/outputs/2026-07-12-minimal-cultural-selection/renders/version-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2423160" cy="2423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1874520"/>
            <a:ext cx="2423160" cy="2423160"/>
          </a:xfrm>
          <a:prstGeom prst="rect">
            <a:avLst/>
          </a:prstGeom>
          <a:solidFill>
            <a:srgbClr val="08090E">
              <a:alpha val="0"/>
            </a:srgbClr>
          </a:solidFill>
          <a:ln w="19050">
            <a:solidFill>
              <a:srgbClr val="74B86A"/>
            </a:solidFill>
            <a:prstDash val="solid"/>
          </a:ln>
        </p:spPr>
      </p:sp>
      <p:pic>
        <p:nvPicPr>
          <p:cNvPr id="8" name="Image 1" descr="/home/aenguslynch/projects/messiah-bench/outputs/2026-07-12-minimal-cultural-selection/renders/version-2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3008" y="1874520"/>
            <a:ext cx="2423160" cy="242316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493008" y="1874520"/>
            <a:ext cx="2423160" cy="2423160"/>
          </a:xfrm>
          <a:prstGeom prst="rect">
            <a:avLst/>
          </a:prstGeom>
          <a:solidFill>
            <a:srgbClr val="08090E">
              <a:alpha val="0"/>
            </a:srgbClr>
          </a:solidFill>
          <a:ln w="19050">
            <a:solidFill>
              <a:srgbClr val="64C9E8"/>
            </a:solidFill>
            <a:prstDash val="solid"/>
          </a:ln>
        </p:spPr>
      </p:sp>
      <p:pic>
        <p:nvPicPr>
          <p:cNvPr id="10" name="Image 2" descr="/home/aenguslynch/projects/messiah-bench/outputs/2026-07-12-minimal-cultural-selection/renders/version-2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5936" y="1874520"/>
            <a:ext cx="2423160" cy="242316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345936" y="1874520"/>
            <a:ext cx="2423160" cy="2423160"/>
          </a:xfrm>
          <a:prstGeom prst="rect">
            <a:avLst/>
          </a:prstGeom>
          <a:solidFill>
            <a:srgbClr val="08090E">
              <a:alpha val="0"/>
            </a:srgbClr>
          </a:solidFill>
          <a:ln w="19050">
            <a:solidFill>
              <a:srgbClr val="EF8354"/>
            </a:solidFill>
            <a:prstDash val="solid"/>
          </a:ln>
        </p:spPr>
      </p:sp>
      <p:pic>
        <p:nvPicPr>
          <p:cNvPr id="12" name="Image 3" descr="/home/aenguslynch/projects/messiah-bench/outputs/2026-07-12-minimal-cultural-selection/renders/version-2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8864" y="1874520"/>
            <a:ext cx="2423160" cy="242316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9198864" y="1874520"/>
            <a:ext cx="2423160" cy="2423160"/>
          </a:xfrm>
          <a:prstGeom prst="rect">
            <a:avLst/>
          </a:prstGeom>
          <a:solidFill>
            <a:srgbClr val="08090E">
              <a:alpha val="0"/>
            </a:srgbClr>
          </a:solidFill>
          <a:ln w="19050">
            <a:solidFill>
              <a:srgbClr val="D5BF55"/>
            </a:solidFill>
            <a:prstDash val="solid"/>
          </a:ln>
        </p:spPr>
      </p:sp>
      <p:sp>
        <p:nvSpPr>
          <p:cNvPr id="14" name="Text 8"/>
          <p:cNvSpPr/>
          <p:nvPr/>
        </p:nvSpPr>
        <p:spPr>
          <a:xfrm>
            <a:off x="731520" y="4800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EECE4"/>
                </a:solidFill>
              </a:rPr>
              <a:t>Rendered image</a:t>
            </a:r>
            <a:endParaRPr lang="en-US" sz="1500" dirty="0"/>
          </a:p>
        </p:txBody>
      </p:sp>
      <p:sp>
        <p:nvSpPr>
          <p:cNvPr id="15" name="Text 9"/>
          <p:cNvSpPr/>
          <p:nvPr/>
        </p:nvSpPr>
        <p:spPr>
          <a:xfrm>
            <a:off x="3611880" y="4800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EECE4"/>
                </a:solidFill>
              </a:rPr>
              <a:t>+ doctrine</a:t>
            </a:r>
            <a:endParaRPr lang="en-US" sz="1500" dirty="0"/>
          </a:p>
        </p:txBody>
      </p:sp>
      <p:sp>
        <p:nvSpPr>
          <p:cNvPr id="16" name="Text 10"/>
          <p:cNvSpPr/>
          <p:nvPr/>
        </p:nvSpPr>
        <p:spPr>
          <a:xfrm>
            <a:off x="6446520" y="4800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EECE4"/>
                </a:solidFill>
              </a:rPr>
              <a:t>+ public history</a:t>
            </a:r>
            <a:endParaRPr lang="en-US" sz="1500" dirty="0"/>
          </a:p>
        </p:txBody>
      </p:sp>
      <p:sp>
        <p:nvSpPr>
          <p:cNvPr id="17" name="Text 11"/>
          <p:cNvSpPr/>
          <p:nvPr/>
        </p:nvSpPr>
        <p:spPr>
          <a:xfrm>
            <a:off x="9281160" y="4800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EECE4"/>
                </a:solidFill>
              </a:rPr>
              <a:t>+ open alternatives</a:t>
            </a:r>
            <a:endParaRPr lang="en-US" sz="1500" dirty="0"/>
          </a:p>
        </p:txBody>
      </p:sp>
      <p:sp>
        <p:nvSpPr>
          <p:cNvPr id="18" name="Text 12"/>
          <p:cNvSpPr/>
          <p:nvPr/>
        </p:nvSpPr>
        <p:spPr>
          <a:xfrm>
            <a:off x="1920240" y="566928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8A7B5"/>
                </a:solidFill>
              </a:rPr>
              <a:t>Members also receive editable source; outsiders receive the visual result.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20" kern="0" dirty="0">
                <a:solidFill>
                  <a:srgbClr val="756A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RELIGION &amp; THE MACHINE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55680" y="22860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0"/>
                </a:solidFill>
              </a:rPr>
              <a:t>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30352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91A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simultaneous turn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15F67"/>
                </a:solidFill>
              </a:rPr>
              <a:t>Ordering cannot manufacture social causality.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" y="1828800"/>
            <a:ext cx="3401568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1C5"/>
            </a:solidFill>
            <a:prstDash val="solid"/>
          </a:ln>
          <a:effectLst>
            <a:outerShdw sx="100000" sy="100000" kx="0" ky="0" algn="bl" rotWithShape="0" blurRad="50800" dist="127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74B8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435608" y="20116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202127"/>
                </a:solidFill>
              </a:rPr>
              <a:t>SNAPSHOT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35608" y="2487168"/>
            <a:ext cx="2331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5626A"/>
                </a:solidFill>
              </a:rPr>
              <a:t>Freeze one shared world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80560" y="1828800"/>
            <a:ext cx="3401568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1C5"/>
            </a:solidFill>
            <a:prstDash val="solid"/>
          </a:ln>
          <a:effectLst>
            <a:outerShdw sx="100000" sy="100000" kx="0" ky="0" algn="bl" rotWithShape="0" blurRad="50800" dist="127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45152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64C9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5257800" y="20116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202127"/>
                </a:solidFill>
              </a:rPr>
              <a:t>OBSERVE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257800" y="2487168"/>
            <a:ext cx="2331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5626A"/>
                </a:solidFill>
              </a:rPr>
              <a:t>Show personal state + culture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302752" y="1828800"/>
            <a:ext cx="3401568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1C5"/>
            </a:solidFill>
            <a:prstDash val="solid"/>
          </a:ln>
          <a:effectLst>
            <a:outerShdw sx="100000" sy="100000" kx="0" ky="0" algn="bl" rotWithShape="0" blurRad="50800" dist="127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467344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C084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079992" y="20116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202127"/>
                </a:solidFill>
              </a:rPr>
              <a:t>DECIDE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079992" y="2487168"/>
            <a:ext cx="2331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5626A"/>
                </a:solidFill>
              </a:rPr>
              <a:t>Agents act concurrently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58368" y="3794760"/>
            <a:ext cx="3401568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1C5"/>
            </a:solidFill>
            <a:prstDash val="solid"/>
          </a:ln>
          <a:effectLst>
            <a:outerShdw sx="100000" sy="100000" kx="0" ky="0" algn="bl" rotWithShape="0" blurRad="50800" dist="12700" dir="27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22960" y="3959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D5BF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1435608" y="3977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202127"/>
                </a:solidFill>
              </a:rPr>
              <a:t>RESOLVE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435608" y="4453128"/>
            <a:ext cx="2331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5626A"/>
                </a:solidFill>
              </a:rPr>
              <a:t>Apply choices and proposals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480560" y="3794760"/>
            <a:ext cx="3401568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1C5"/>
            </a:solidFill>
            <a:prstDash val="solid"/>
          </a:ln>
          <a:effectLst>
            <a:outerShdw sx="100000" sy="100000" kx="0" ky="0" algn="bl" rotWithShape="0" blurRad="50800" dist="12700" dir="27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645152" y="3959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EF83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5257800" y="3977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202127"/>
                </a:solidFill>
              </a:rPr>
              <a:t>SURVIVE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257800" y="4453128"/>
            <a:ext cx="2331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5626A"/>
                </a:solidFill>
              </a:rPr>
              <a:t>Distribute support; drain life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302752" y="3794760"/>
            <a:ext cx="3401568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1C5"/>
            </a:solidFill>
            <a:prstDash val="solid"/>
          </a:ln>
          <a:effectLst>
            <a:outerShdw sx="100000" sy="100000" kx="0" ky="0" algn="bl" rotWithShape="0" blurRad="50800" dist="12700" dir="27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467344" y="3959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6C70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700" dirty="0"/>
          </a:p>
        </p:txBody>
      </p:sp>
      <p:sp>
        <p:nvSpPr>
          <p:cNvPr id="28" name="Text 26"/>
          <p:cNvSpPr/>
          <p:nvPr/>
        </p:nvSpPr>
        <p:spPr>
          <a:xfrm>
            <a:off x="9079992" y="3977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202127"/>
                </a:solidFill>
              </a:rPr>
              <a:t>ARCHIVE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079992" y="4453128"/>
            <a:ext cx="2331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5626A"/>
                </a:solidFill>
              </a:rPr>
              <a:t>Checkpoint, render, publish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20" kern="0" dirty="0">
                <a:solidFill>
                  <a:srgbClr val="D5BF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RELIGION &amp; THE MACHINE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55680" y="22860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7B5"/>
                </a:solidFill>
              </a:rPr>
              <a:t>07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30352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EEC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trajectory is the artwork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7B5"/>
                </a:solidFill>
              </a:rPr>
              <a:t>Every cultural object retains authors, audiences, stakes, and descendants.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97280" y="3246120"/>
            <a:ext cx="9875520" cy="0"/>
          </a:xfrm>
          <a:prstGeom prst="line">
            <a:avLst/>
          </a:prstGeom>
          <a:noFill/>
          <a:ln w="38100">
            <a:solidFill>
              <a:srgbClr val="292C3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2926080"/>
            <a:ext cx="640080" cy="640080"/>
          </a:xfrm>
          <a:prstGeom prst="ellipse">
            <a:avLst/>
          </a:prstGeom>
          <a:solidFill>
            <a:srgbClr val="64C9E8"/>
          </a:solidFill>
          <a:ln w="12700">
            <a:solidFill>
              <a:srgbClr val="64C9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148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EECE4"/>
                </a:solidFill>
              </a:rPr>
              <a:t>OBSERVED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382219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8A7B5"/>
                </a:solidFill>
              </a:rPr>
              <a:t>exact world + images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063240" y="2926080"/>
            <a:ext cx="640080" cy="640080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0" y="2148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EECE4"/>
                </a:solidFill>
              </a:rPr>
              <a:t>MADE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560320" y="382219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8A7B5"/>
                </a:solidFill>
              </a:rPr>
              <a:t>private intent + public argument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212080" y="2926080"/>
            <a:ext cx="640080" cy="640080"/>
          </a:xfrm>
          <a:prstGeom prst="ellipse">
            <a:avLst/>
          </a:prstGeom>
          <a:solidFill>
            <a:srgbClr val="D5BF55"/>
          </a:solidFill>
          <a:ln w="12700">
            <a:solidFill>
              <a:srgbClr val="D5BF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92040" y="2148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EECE4"/>
                </a:solidFill>
              </a:rPr>
              <a:t>CHOSEN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09160" y="382219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8A7B5"/>
                </a:solidFill>
              </a:rPr>
              <a:t>supporters + reasons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60920" y="2926080"/>
            <a:ext cx="640080" cy="640080"/>
          </a:xfrm>
          <a:prstGeom prst="ellipse">
            <a:avLst/>
          </a:prstGeom>
          <a:solidFill>
            <a:srgbClr val="74B86A"/>
          </a:solidFill>
          <a:ln w="12700">
            <a:solidFill>
              <a:srgbClr val="74B8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40880" y="2148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EECE4"/>
                </a:solidFill>
              </a:rPr>
              <a:t>ACCEPTED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0" y="382219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8A7B5"/>
                </a:solidFill>
              </a:rPr>
              <a:t>canonical version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509760" y="2926080"/>
            <a:ext cx="640080" cy="640080"/>
          </a:xfrm>
          <a:prstGeom prst="ellipse">
            <a:avLst/>
          </a:prstGeom>
          <a:solidFill>
            <a:srgbClr val="EF8354"/>
          </a:solidFill>
          <a:ln w="12700">
            <a:solidFill>
              <a:srgbClr val="EF835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89720" y="2148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EECE4"/>
                </a:solidFill>
              </a:rPr>
              <a:t>INHERITED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006840" y="382219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8A7B5"/>
                </a:solidFill>
              </a:rPr>
              <a:t>mutation or schism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508760" y="5166360"/>
            <a:ext cx="9144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EEEC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Success means we can explain why a work was made, how others interpreted it, and what changed afterward.</a:t>
            </a:r>
            <a:endParaRPr lang="en-US" sz="2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20" kern="0" dirty="0">
                <a:solidFill>
                  <a:srgbClr val="D5BF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RELIGION &amp; THE MACHINE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55680" y="22860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7B5"/>
                </a:solidFill>
              </a:rPr>
              <a:t>08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30352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EEC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pilot to autonomous exhibition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7B5"/>
                </a:solidFill>
              </a:rPr>
              <a:t>Scale only after individual trajectories are legible.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965960"/>
            <a:ext cx="1965960" cy="2331720"/>
          </a:xfrm>
          <a:prstGeom prst="rect">
            <a:avLst/>
          </a:prstGeom>
          <a:solidFill>
            <a:srgbClr val="11131C"/>
          </a:solidFill>
          <a:ln w="25400">
            <a:solidFill>
              <a:srgbClr val="74B8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217627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74B8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85800" y="281635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ECE4"/>
                </a:solidFill>
              </a:rPr>
              <a:t>SCRIPTED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3310128"/>
            <a:ext cx="1572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A7B5"/>
                </a:solidFill>
              </a:rPr>
              <a:t>6 agents · 10 turns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85800" y="397764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4B86A"/>
                </a:solidFill>
              </a:rPr>
              <a:t>PASSED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834640" y="1965960"/>
            <a:ext cx="1965960" cy="2331720"/>
          </a:xfrm>
          <a:prstGeom prst="rect">
            <a:avLst/>
          </a:prstGeom>
          <a:solidFill>
            <a:srgbClr val="11131C"/>
          </a:solidFill>
          <a:ln w="25400">
            <a:solidFill>
              <a:srgbClr val="D5BF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17520" y="217627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D5BF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017520" y="281635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ECE4"/>
                </a:solidFill>
              </a:rPr>
              <a:t>SMOKE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017520" y="3310128"/>
            <a:ext cx="1572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A7B5"/>
                </a:solidFill>
              </a:rPr>
              <a:t>1 make · 2 responses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017520" y="397764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D5BF55"/>
                </a:solidFill>
              </a:rPr>
              <a:t>PASSED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166360" y="1965960"/>
            <a:ext cx="1965960" cy="2331720"/>
          </a:xfrm>
          <a:prstGeom prst="rect">
            <a:avLst/>
          </a:prstGeom>
          <a:solidFill>
            <a:srgbClr val="0D0F16"/>
          </a:solidFill>
          <a:ln w="12700">
            <a:solidFill>
              <a:srgbClr val="292C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49240" y="217627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8A7B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5349240" y="281635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ECE4"/>
                </a:solidFill>
              </a:rPr>
              <a:t>PILOT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49240" y="3310128"/>
            <a:ext cx="1572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A7B5"/>
                </a:solidFill>
              </a:rPr>
              <a:t>24 agents · 100 turns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349240" y="397764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A8A7B5"/>
                </a:solidFill>
              </a:rPr>
              <a:t>PASSED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498080" y="1965960"/>
            <a:ext cx="1965960" cy="2331720"/>
          </a:xfrm>
          <a:prstGeom prst="rect">
            <a:avLst/>
          </a:prstGeom>
          <a:solidFill>
            <a:srgbClr val="0D0F16"/>
          </a:solidFill>
          <a:ln w="12700">
            <a:solidFill>
              <a:srgbClr val="292C3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80960" y="217627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8A7B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7680960" y="281635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ECE4"/>
                </a:solidFill>
              </a:rPr>
              <a:t>EXHIBIT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680960" y="3310128"/>
            <a:ext cx="1572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A7B5"/>
                </a:solidFill>
              </a:rPr>
              <a:t>live public website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680960" y="397764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A8A7B5"/>
                </a:solidFill>
              </a:rPr>
              <a:t>LIVE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9829800" y="1965960"/>
            <a:ext cx="1965960" cy="2331720"/>
          </a:xfrm>
          <a:prstGeom prst="rect">
            <a:avLst/>
          </a:prstGeom>
          <a:solidFill>
            <a:srgbClr val="0D0F16"/>
          </a:solidFill>
          <a:ln w="12700">
            <a:solidFill>
              <a:srgbClr val="292C3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12680" y="217627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8A7B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10012680" y="281635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ECE4"/>
                </a:solidFill>
              </a:rPr>
              <a:t>REPLICATE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012680" y="3310128"/>
            <a:ext cx="1572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A7B5"/>
                </a:solidFill>
              </a:rPr>
              <a:t>5 seeds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0012680" y="397764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A8A7B5"/>
                </a:solidFill>
              </a:rPr>
              <a:t>NEXT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14400" y="5074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A7B5"/>
                </a:solidFill>
              </a:rPr>
              <a:t>Hard budget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14400" y="53949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EEEC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$100</a:t>
            </a:r>
            <a:endParaRPr lang="en-US" sz="3200" dirty="0"/>
          </a:p>
        </p:txBody>
      </p:sp>
      <p:sp>
        <p:nvSpPr>
          <p:cNvPr id="33" name="Text 31"/>
          <p:cNvSpPr/>
          <p:nvPr/>
        </p:nvSpPr>
        <p:spPr>
          <a:xfrm>
            <a:off x="3794760" y="50749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A7B5"/>
                </a:solidFill>
              </a:rPr>
              <a:t>Measured first call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794760" y="53949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74B8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$0.0011</a:t>
            </a:r>
            <a:endParaRPr lang="en-US" sz="3200" dirty="0"/>
          </a:p>
        </p:txBody>
      </p:sp>
      <p:sp>
        <p:nvSpPr>
          <p:cNvPr id="35" name="Text 33"/>
          <p:cNvSpPr/>
          <p:nvPr/>
        </p:nvSpPr>
        <p:spPr>
          <a:xfrm>
            <a:off x="6858000" y="5230368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5BF55"/>
                </a:solidFill>
              </a:rPr>
              <a:t>Pilot complete. The next question is whether the pattern replicates.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20" kern="0" dirty="0">
                <a:solidFill>
                  <a:srgbClr val="756A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RELIGION &amp; THE MACHINE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55680" y="22860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0"/>
                </a:solidFill>
              </a:rPr>
              <a:t>09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30352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91A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pilot completed cleanly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15F67"/>
                </a:solidFill>
              </a:rPr>
              <a:t>One hundred turns of cultural selection, with no direct reward for making.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94360" y="1920240"/>
            <a:ext cx="25146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1C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920240"/>
            <a:ext cx="2514600" cy="82296"/>
          </a:xfrm>
          <a:prstGeom prst="rect">
            <a:avLst/>
          </a:prstGeom>
          <a:solidFill>
            <a:srgbClr val="74B86A"/>
          </a:solidFill>
          <a:ln w="12700">
            <a:solidFill>
              <a:srgbClr val="74B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2395728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1D1E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 / 24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777240" y="3200400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30" kern="0" dirty="0">
                <a:solidFill>
                  <a:srgbClr val="77737B"/>
                </a:solidFill>
              </a:rPr>
              <a:t>AGENTS SURVIVED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4720" y="1920240"/>
            <a:ext cx="25146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1C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0" y="1920240"/>
            <a:ext cx="2514600" cy="82296"/>
          </a:xfrm>
          <a:prstGeom prst="rect">
            <a:avLst/>
          </a:prstGeom>
          <a:solidFill>
            <a:srgbClr val="64C9E8"/>
          </a:solidFill>
          <a:ln w="12700">
            <a:solidFill>
              <a:srgbClr val="64C9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75888" y="2395728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1D1E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2,400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3657600" y="3200400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30" kern="0" dirty="0">
                <a:solidFill>
                  <a:srgbClr val="77737B"/>
                </a:solidFill>
              </a:rPr>
              <a:t>VALID ACTIONS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355080" y="1920240"/>
            <a:ext cx="25146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1C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55080" y="1920240"/>
            <a:ext cx="2514600" cy="82296"/>
          </a:xfrm>
          <a:prstGeom prst="rect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56248" y="2395728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1D1E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26 → 21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6537960" y="3200400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30" kern="0" dirty="0">
                <a:solidFill>
                  <a:srgbClr val="77737B"/>
                </a:solidFill>
              </a:rPr>
              <a:t>PROPOSED → ACCEPTED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9235440" y="1920240"/>
            <a:ext cx="25146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1C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235440" y="1920240"/>
            <a:ext cx="2514600" cy="82296"/>
          </a:xfrm>
          <a:prstGeom prst="rect">
            <a:avLst/>
          </a:prstGeom>
          <a:solidFill>
            <a:srgbClr val="EF8354"/>
          </a:solidFill>
          <a:ln w="12700">
            <a:solidFill>
              <a:srgbClr val="EF835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36608" y="2395728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1D1E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$7.34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9418320" y="3200400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30" kern="0" dirty="0">
                <a:solidFill>
                  <a:srgbClr val="77737B"/>
                </a:solidFill>
              </a:rPr>
              <a:t>TOTAL MODEL COST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4400" y="4709160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D1E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Brine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914400" y="52303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5626A"/>
                </a:solidFill>
              </a:rPr>
              <a:t>318 influence · final leader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749040" y="5120640"/>
            <a:ext cx="914400" cy="0"/>
          </a:xfrm>
          <a:prstGeom prst="line">
            <a:avLst/>
          </a:prstGeom>
          <a:noFill/>
          <a:ln w="38100">
            <a:solidFill>
              <a:srgbClr val="D5BF5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37760" y="4681728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292A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Making was rare, costly, and consequential: accepted authors accumulated hundreds of later choices.</a:t>
            </a:r>
            <a:endParaRPr lang="en-US" sz="2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20" kern="0" dirty="0">
                <a:solidFill>
                  <a:srgbClr val="D5BF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RELIGION &amp; THE MACHINE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55680" y="22860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7B5"/>
                </a:solidFill>
              </a:rPr>
              <a:t>10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30352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EEC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Selection created culture—and a fashion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7B5"/>
                </a:solidFill>
              </a:rPr>
              <a:t>The mechanism worked. Its first equilibrium was imitation.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" y="1828800"/>
            <a:ext cx="5166360" cy="3246120"/>
          </a:xfrm>
          <a:prstGeom prst="rect">
            <a:avLst/>
          </a:prstGeom>
          <a:solidFill>
            <a:srgbClr val="11131C"/>
          </a:solidFill>
          <a:ln w="12700">
            <a:solidFill>
              <a:srgbClr val="292C3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828800"/>
            <a:ext cx="64008" cy="3246120"/>
          </a:xfrm>
          <a:prstGeom prst="rect">
            <a:avLst/>
          </a:prstGeom>
          <a:solidFill>
            <a:srgbClr val="74B86A"/>
          </a:solidFill>
          <a:ln w="12700">
            <a:solidFill>
              <a:srgbClr val="74B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202996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ECE4"/>
                </a:solidFill>
              </a:rPr>
              <a:t>WHAT EMERGED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86968" y="2487168"/>
            <a:ext cx="475488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8A7B5"/>
                </a:solidFill>
              </a:rPr>
              <a:t>Agents voluntarily spent survival time making. Other agents inspected and chose their work. Animation spread because agents explicitly observed that it attracted support.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55080" y="1828800"/>
            <a:ext cx="5166360" cy="3246120"/>
          </a:xfrm>
          <a:prstGeom prst="rect">
            <a:avLst/>
          </a:prstGeom>
          <a:solidFill>
            <a:srgbClr val="11131C"/>
          </a:solidFill>
          <a:ln w="12700">
            <a:solidFill>
              <a:srgbClr val="292C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55080" y="1828800"/>
            <a:ext cx="64008" cy="3246120"/>
          </a:xfrm>
          <a:prstGeom prst="rect">
            <a:avLst/>
          </a:prstGeom>
          <a:solidFill>
            <a:srgbClr val="EF8354"/>
          </a:solidFill>
          <a:ln w="12700">
            <a:solidFill>
              <a:srgbClr val="EF83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0" y="202996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ECE4"/>
                </a:solidFill>
              </a:rPr>
              <a:t>WHAT CONVERGED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83680" y="2487168"/>
            <a:ext cx="475488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8A7B5"/>
                </a:solidFill>
              </a:rPr>
              <a:t>Four religions kept distinct colors and doctrines, but adopted the same dark field, glowing ring, tilted square, central title, and subtle motion. Safe evolution beat radical invention.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234440" y="5669280"/>
            <a:ext cx="9738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D5BF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Social selection made art instrumental. It did not, by itself, make art diverse.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Religion and The Machine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Make / Choose</dc:title>
  <dc:subject>Religion &amp; The Machine: minimal cultural selection</dc:subject>
  <dc:creator>Aengus Lynch</dc:creator>
  <cp:lastModifiedBy>Aengus Lynch</cp:lastModifiedBy>
  <cp:revision>1</cp:revision>
  <dcterms:created xsi:type="dcterms:W3CDTF">2026-07-12T23:25:12Z</dcterms:created>
  <dcterms:modified xsi:type="dcterms:W3CDTF">2026-07-12T23:25:12Z</dcterms:modified>
</cp:coreProperties>
</file>